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Old Standard TT"/>
      <p:regular r:id="rId30"/>
      <p:bold r:id="rId31"/>
      <p: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ldStandardTT-bold.fntdata"/><Relationship Id="rId30" Type="http://schemas.openxmlformats.org/officeDocument/2006/relationships/font" Target="fonts/OldStandardTT-regular.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OldStandardTT-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d400578c0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d400578c0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d41b3dc83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d41b3dc83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d41b3dc83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d41b3dc83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d41b3dc83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d41b3dc83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d41b3dc83f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d41b3dc83f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d400578c05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d400578c05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d400578c05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d400578c05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d400578c05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d400578c05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d400578c05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d400578c05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d400578c05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d400578c05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d400578c05_2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d400578c05_2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d400578c05_2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d400578c05_2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d4388811c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d4388811c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d41b3dc83f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d41b3dc83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d41b3dc83f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d41b3dc83f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d41b3dc83f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d41b3dc83f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d41b3dc83f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d41b3dc83f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d41b3dc83f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d41b3dc83f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d41b3dc83f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d41b3dc83f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d41b3dc83f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d41b3dc83f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d41b3dc83f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d41b3dc83f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d41b3dc83f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d41b3dc83f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d41b3dc83f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d41b3dc83f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3.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ML Presentation: Steam Review Sentiment Analysis</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Created by Filip Droca and Connor Booth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Introduction</a:t>
            </a:r>
            <a:endParaRPr/>
          </a:p>
        </p:txBody>
      </p:sp>
      <p:sp>
        <p:nvSpPr>
          <p:cNvPr id="66" name="Google Shape;66;p14"/>
          <p:cNvSpPr txBox="1"/>
          <p:nvPr>
            <p:ph idx="1" type="body"/>
          </p:nvPr>
        </p:nvSpPr>
        <p:spPr>
          <a:xfrm>
            <a:off x="311700" y="1171600"/>
            <a:ext cx="4260300" cy="3397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Steam is an online video game retailer that has become the main way for many people to purchase games and software reliably for their computer. </a:t>
            </a:r>
            <a:endParaRPr/>
          </a:p>
          <a:p>
            <a:pPr indent="0" lvl="0" marL="0" rtl="0" algn="ctr">
              <a:spcBef>
                <a:spcPts val="1200"/>
              </a:spcBef>
              <a:spcAft>
                <a:spcPts val="0"/>
              </a:spcAft>
              <a:buNone/>
            </a:pPr>
            <a:r>
              <a:t/>
            </a:r>
            <a:endParaRPr/>
          </a:p>
          <a:p>
            <a:pPr indent="0" lvl="0" marL="0" rtl="0" algn="ctr">
              <a:spcBef>
                <a:spcPts val="1200"/>
              </a:spcBef>
              <a:spcAft>
                <a:spcPts val="1200"/>
              </a:spcAft>
              <a:buNone/>
            </a:pPr>
            <a:r>
              <a:rPr lang="en-GB"/>
              <a:t>Products listed on steam are able to be reviewed by users who purchase them, and they are displayed publicly on the products page. </a:t>
            </a:r>
            <a:endParaRPr/>
          </a:p>
        </p:txBody>
      </p:sp>
      <p:pic>
        <p:nvPicPr>
          <p:cNvPr id="67" name="Google Shape;67;p14"/>
          <p:cNvPicPr preferRelativeResize="0"/>
          <p:nvPr/>
        </p:nvPicPr>
        <p:blipFill rotWithShape="1">
          <a:blip r:embed="rId3">
            <a:alphaModFix/>
          </a:blip>
          <a:srcRect b="14611" l="0" r="58220" t="10650"/>
          <a:stretch/>
        </p:blipFill>
        <p:spPr>
          <a:xfrm>
            <a:off x="5201875" y="1171600"/>
            <a:ext cx="3451225" cy="32263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Steam’s Review Culture</a:t>
            </a:r>
            <a:endParaRPr/>
          </a:p>
        </p:txBody>
      </p:sp>
      <p:sp>
        <p:nvSpPr>
          <p:cNvPr id="73" name="Google Shape;73;p15"/>
          <p:cNvSpPr txBox="1"/>
          <p:nvPr>
            <p:ph idx="1" type="body"/>
          </p:nvPr>
        </p:nvSpPr>
        <p:spPr>
          <a:xfrm>
            <a:off x="311700" y="1400475"/>
            <a:ext cx="3669600" cy="32631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GB"/>
              <a:t>As a developer, reviews are the gateway to understanding the perception of your released product.</a:t>
            </a:r>
            <a:endParaRPr/>
          </a:p>
          <a:p>
            <a:pPr indent="0" lvl="0" marL="0" rtl="0" algn="ctr">
              <a:spcBef>
                <a:spcPts val="1200"/>
              </a:spcBef>
              <a:spcAft>
                <a:spcPts val="0"/>
              </a:spcAft>
              <a:buNone/>
            </a:pPr>
            <a:r>
              <a:t/>
            </a:r>
            <a:endParaRPr/>
          </a:p>
          <a:p>
            <a:pPr indent="0" lvl="0" marL="0" rtl="0" algn="ctr">
              <a:spcBef>
                <a:spcPts val="1200"/>
              </a:spcBef>
              <a:spcAft>
                <a:spcPts val="1200"/>
              </a:spcAft>
              <a:buNone/>
            </a:pPr>
            <a:r>
              <a:rPr lang="en-GB"/>
              <a:t>While a majority of products on Steam receive a rating of Positive, the negative reviews are often much more telling.</a:t>
            </a:r>
            <a:endParaRPr/>
          </a:p>
        </p:txBody>
      </p:sp>
      <p:pic>
        <p:nvPicPr>
          <p:cNvPr id="74" name="Google Shape;74;p15"/>
          <p:cNvPicPr preferRelativeResize="0"/>
          <p:nvPr/>
        </p:nvPicPr>
        <p:blipFill>
          <a:blip r:embed="rId3">
            <a:alphaModFix/>
          </a:blip>
          <a:stretch>
            <a:fillRect/>
          </a:stretch>
        </p:blipFill>
        <p:spPr>
          <a:xfrm>
            <a:off x="4133700" y="1210625"/>
            <a:ext cx="4857900" cy="291600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Problem: No internal predictions on sentiment. </a:t>
            </a:r>
            <a:endParaRPr/>
          </a:p>
        </p:txBody>
      </p:sp>
      <p:sp>
        <p:nvSpPr>
          <p:cNvPr id="80" name="Google Shape;80;p16"/>
          <p:cNvSpPr txBox="1"/>
          <p:nvPr>
            <p:ph idx="1" type="body"/>
          </p:nvPr>
        </p:nvSpPr>
        <p:spPr>
          <a:xfrm>
            <a:off x="311700" y="1058225"/>
            <a:ext cx="3084000" cy="3563700"/>
          </a:xfrm>
          <a:prstGeom prst="rect">
            <a:avLst/>
          </a:prstGeom>
        </p:spPr>
        <p:txBody>
          <a:bodyPr anchorCtr="0" anchor="t" bIns="91425" lIns="91425" spcFirstLastPara="1" rIns="91425" wrap="square" tIns="91425">
            <a:normAutofit fontScale="92500" lnSpcReduction="10000"/>
          </a:bodyPr>
          <a:lstStyle/>
          <a:p>
            <a:pPr indent="0" lvl="0" marL="0" rtl="0" algn="ctr">
              <a:spcBef>
                <a:spcPts val="0"/>
              </a:spcBef>
              <a:spcAft>
                <a:spcPts val="0"/>
              </a:spcAft>
              <a:buNone/>
            </a:pPr>
            <a:r>
              <a:rPr lang="en-GB"/>
              <a:t>Steam’s product scores are aggregates. They are purely the ratio of positive to negative reviews. </a:t>
            </a:r>
            <a:endParaRPr/>
          </a:p>
          <a:p>
            <a:pPr indent="0" lvl="0" marL="0" rtl="0" algn="ctr">
              <a:spcBef>
                <a:spcPts val="1200"/>
              </a:spcBef>
              <a:spcAft>
                <a:spcPts val="0"/>
              </a:spcAft>
              <a:buNone/>
            </a:pPr>
            <a:r>
              <a:rPr lang="en-GB"/>
              <a:t>There is are no mechanisms to analyze review content or behavioural patterns.</a:t>
            </a:r>
            <a:endParaRPr/>
          </a:p>
          <a:p>
            <a:pPr indent="0" lvl="0" marL="0" rtl="0" algn="ctr">
              <a:spcBef>
                <a:spcPts val="1200"/>
              </a:spcBef>
              <a:spcAft>
                <a:spcPts val="0"/>
              </a:spcAft>
              <a:buNone/>
            </a:pPr>
            <a:r>
              <a:rPr lang="en-GB"/>
              <a:t>As such, developers miss out on derived scalable, automated insight from this data.</a:t>
            </a:r>
            <a:endParaRPr/>
          </a:p>
          <a:p>
            <a:pPr indent="0" lvl="0" marL="0" rtl="0" algn="ctr">
              <a:spcBef>
                <a:spcPts val="1200"/>
              </a:spcBef>
              <a:spcAft>
                <a:spcPts val="1200"/>
              </a:spcAft>
              <a:buNone/>
            </a:pPr>
            <a:r>
              <a:t/>
            </a:r>
            <a:endParaRPr/>
          </a:p>
        </p:txBody>
      </p:sp>
      <p:pic>
        <p:nvPicPr>
          <p:cNvPr id="81" name="Google Shape;81;p16"/>
          <p:cNvPicPr preferRelativeResize="0"/>
          <p:nvPr/>
        </p:nvPicPr>
        <p:blipFill rotWithShape="1">
          <a:blip r:embed="rId3">
            <a:alphaModFix/>
          </a:blip>
          <a:srcRect b="3652" l="0" r="0" t="0"/>
          <a:stretch/>
        </p:blipFill>
        <p:spPr>
          <a:xfrm>
            <a:off x="3667625" y="1058225"/>
            <a:ext cx="2700650" cy="3059250"/>
          </a:xfrm>
          <a:prstGeom prst="rect">
            <a:avLst/>
          </a:prstGeom>
          <a:noFill/>
          <a:ln>
            <a:noFill/>
          </a:ln>
        </p:spPr>
      </p:pic>
      <p:pic>
        <p:nvPicPr>
          <p:cNvPr id="82" name="Google Shape;82;p16"/>
          <p:cNvPicPr preferRelativeResize="0"/>
          <p:nvPr/>
        </p:nvPicPr>
        <p:blipFill>
          <a:blip r:embed="rId4">
            <a:alphaModFix/>
          </a:blip>
          <a:stretch>
            <a:fillRect/>
          </a:stretch>
        </p:blipFill>
        <p:spPr>
          <a:xfrm>
            <a:off x="6368275" y="1058225"/>
            <a:ext cx="2700650" cy="3059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Project Goals</a:t>
            </a:r>
            <a:endParaRPr/>
          </a:p>
        </p:txBody>
      </p:sp>
      <p:sp>
        <p:nvSpPr>
          <p:cNvPr id="88" name="Google Shape;88;p17"/>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b="1" lang="en-GB"/>
              <a:t>Primary Objective: </a:t>
            </a:r>
            <a:r>
              <a:rPr lang="en-GB"/>
              <a:t>Develop scalable models capable of accurately predicting player sentiment by analyzing review metadata and text.</a:t>
            </a:r>
            <a:endParaRPr/>
          </a:p>
          <a:p>
            <a:pPr indent="457200" lvl="0" marL="0" rtl="0" algn="l">
              <a:spcBef>
                <a:spcPts val="1200"/>
              </a:spcBef>
              <a:spcAft>
                <a:spcPts val="0"/>
              </a:spcAft>
              <a:buNone/>
            </a:pPr>
            <a:r>
              <a:rPr lang="en-GB"/>
              <a:t>Additional goals:</a:t>
            </a:r>
            <a:endParaRPr/>
          </a:p>
          <a:p>
            <a:pPr indent="-342900" lvl="0" marL="1080000" rtl="0" algn="l">
              <a:spcBef>
                <a:spcPts val="1200"/>
              </a:spcBef>
              <a:spcAft>
                <a:spcPts val="0"/>
              </a:spcAft>
              <a:buSzPts val="1800"/>
              <a:buChar char="●"/>
            </a:pPr>
            <a:r>
              <a:rPr lang="en-GB"/>
              <a:t>Address the positive-bias of the platform to go beyond naive classification</a:t>
            </a:r>
            <a:endParaRPr/>
          </a:p>
          <a:p>
            <a:pPr indent="-342900" lvl="0" marL="1080000" rtl="0" algn="l">
              <a:spcBef>
                <a:spcPts val="0"/>
              </a:spcBef>
              <a:spcAft>
                <a:spcPts val="0"/>
              </a:spcAft>
              <a:buSzPts val="1800"/>
              <a:buChar char="●"/>
            </a:pPr>
            <a:r>
              <a:rPr lang="en-GB"/>
              <a:t>Evaluate several models to find the best balance of interpretability and accuracy</a:t>
            </a:r>
            <a:endParaRPr/>
          </a:p>
          <a:p>
            <a:pPr indent="-342900" lvl="0" marL="1080000" rtl="0" algn="l">
              <a:spcBef>
                <a:spcPts val="0"/>
              </a:spcBef>
              <a:spcAft>
                <a:spcPts val="0"/>
              </a:spcAft>
              <a:buSzPts val="1800"/>
              <a:buChar char="●"/>
            </a:pPr>
            <a:r>
              <a:rPr lang="en-GB"/>
              <a:t>To develop a pipeline capable of processing significant subsets of reviews while staying within local hardware limits. </a:t>
            </a:r>
            <a:endParaRPr/>
          </a:p>
          <a:p>
            <a:pPr indent="-342900" lvl="0" marL="1080000" rtl="0" algn="l">
              <a:spcBef>
                <a:spcPts val="0"/>
              </a:spcBef>
              <a:spcAft>
                <a:spcPts val="0"/>
              </a:spcAft>
              <a:buSzPts val="1800"/>
              <a:buChar char="●"/>
            </a:pPr>
            <a:r>
              <a:rPr lang="en-GB"/>
              <a:t>To beat the necessary submission rate of ≥ 80% accuracy achieved.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Workload Split</a:t>
            </a:r>
            <a:endParaRPr/>
          </a:p>
        </p:txBody>
      </p:sp>
      <p:sp>
        <p:nvSpPr>
          <p:cNvPr id="94" name="Google Shape;94;p18"/>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Work was evenly distributed to whatever needed to get done, but generally:</a:t>
            </a:r>
            <a:br>
              <a:rPr lang="en-GB"/>
            </a:br>
            <a:br>
              <a:rPr lang="en-GB"/>
            </a:br>
            <a:endParaRPr/>
          </a:p>
          <a:p>
            <a:pPr indent="-342900" lvl="0" marL="457200" rtl="0" algn="l">
              <a:spcBef>
                <a:spcPts val="1200"/>
              </a:spcBef>
              <a:spcAft>
                <a:spcPts val="0"/>
              </a:spcAft>
              <a:buSzPts val="1800"/>
              <a:buChar char="●"/>
            </a:pPr>
            <a:r>
              <a:rPr lang="en-GB"/>
              <a:t>Connor took focus on foundational preprocessing and feature engineering, and visualization</a:t>
            </a:r>
            <a:endParaRPr/>
          </a:p>
          <a:p>
            <a:pPr indent="-342900" lvl="0" marL="457200" rtl="0" algn="l">
              <a:spcBef>
                <a:spcPts val="0"/>
              </a:spcBef>
              <a:spcAft>
                <a:spcPts val="0"/>
              </a:spcAft>
              <a:buSzPts val="1800"/>
              <a:buChar char="●"/>
            </a:pPr>
            <a:r>
              <a:rPr lang="en-GB"/>
              <a:t>Filip took focus on model creation and tuning.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idx="1" type="body"/>
          </p:nvPr>
        </p:nvSpPr>
        <p:spPr>
          <a:xfrm>
            <a:off x="311700" y="379200"/>
            <a:ext cx="8520600" cy="4385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rPr b="1" lang="en-GB" sz="4200"/>
              <a:t>Preprocessing and Data Analysis</a:t>
            </a:r>
            <a:endParaRPr b="1" sz="4200"/>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Data Collection &amp; Exploratory Data Analysis</a:t>
            </a:r>
            <a:endParaRPr/>
          </a:p>
        </p:txBody>
      </p:sp>
      <p:sp>
        <p:nvSpPr>
          <p:cNvPr id="105" name="Google Shape;105;p20"/>
          <p:cNvSpPr txBox="1"/>
          <p:nvPr>
            <p:ph idx="1" type="body"/>
          </p:nvPr>
        </p:nvSpPr>
        <p:spPr>
          <a:xfrm>
            <a:off x="311700" y="1171600"/>
            <a:ext cx="4023600" cy="2438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GB"/>
              <a:t>Data Collection:</a:t>
            </a:r>
            <a:endParaRPr/>
          </a:p>
          <a:p>
            <a:pPr indent="-342900" lvl="0" marL="457200" rtl="0" algn="l">
              <a:spcBef>
                <a:spcPts val="1200"/>
              </a:spcBef>
              <a:spcAft>
                <a:spcPts val="0"/>
              </a:spcAft>
              <a:buSzPts val="1800"/>
              <a:buChar char="-"/>
            </a:pPr>
            <a:r>
              <a:rPr lang="en-GB"/>
              <a:t>Source: Kaggle</a:t>
            </a:r>
            <a:endParaRPr/>
          </a:p>
          <a:p>
            <a:pPr indent="-342900" lvl="0" marL="457200" rtl="0" algn="l">
              <a:spcBef>
                <a:spcPts val="0"/>
              </a:spcBef>
              <a:spcAft>
                <a:spcPts val="0"/>
              </a:spcAft>
              <a:buSzPts val="1800"/>
              <a:buChar char="-"/>
            </a:pPr>
            <a:r>
              <a:rPr lang="en-GB"/>
              <a:t>Downsampled 2 million English reviews, 70/30 positive/negative split</a:t>
            </a:r>
            <a:endParaRPr/>
          </a:p>
          <a:p>
            <a:pPr indent="-342900" lvl="0" marL="457200" rtl="0" algn="l">
              <a:spcBef>
                <a:spcPts val="0"/>
              </a:spcBef>
              <a:spcAft>
                <a:spcPts val="0"/>
              </a:spcAft>
              <a:buSzPts val="1800"/>
              <a:buChar char="-"/>
            </a:pPr>
            <a:r>
              <a:rPr lang="en-GB"/>
              <a:t>Originally 100+ million reviews, 84/16 positive/negative split</a:t>
            </a:r>
            <a:endParaRPr/>
          </a:p>
        </p:txBody>
      </p:sp>
      <p:sp>
        <p:nvSpPr>
          <p:cNvPr id="106" name="Google Shape;106;p20"/>
          <p:cNvSpPr txBox="1"/>
          <p:nvPr>
            <p:ph idx="1" type="body"/>
          </p:nvPr>
        </p:nvSpPr>
        <p:spPr>
          <a:xfrm>
            <a:off x="264320" y="3311659"/>
            <a:ext cx="4023600" cy="207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EDA:</a:t>
            </a:r>
            <a:endParaRPr/>
          </a:p>
          <a:p>
            <a:pPr indent="-342900" lvl="0" marL="457200" rtl="0" algn="l">
              <a:spcBef>
                <a:spcPts val="1200"/>
              </a:spcBef>
              <a:spcAft>
                <a:spcPts val="0"/>
              </a:spcAft>
              <a:buSzPts val="1800"/>
              <a:buChar char="-"/>
            </a:pPr>
            <a:r>
              <a:rPr lang="en-GB"/>
              <a:t>Playtime, review length have heavy right skew</a:t>
            </a:r>
            <a:endParaRPr/>
          </a:p>
          <a:p>
            <a:pPr indent="0" lvl="0" marL="457200" rtl="0" algn="l">
              <a:spcBef>
                <a:spcPts val="1200"/>
              </a:spcBef>
              <a:spcAft>
                <a:spcPts val="1200"/>
              </a:spcAft>
              <a:buNone/>
            </a:pPr>
            <a:r>
              <a:t/>
            </a:r>
            <a:endParaRPr/>
          </a:p>
        </p:txBody>
      </p:sp>
      <p:pic>
        <p:nvPicPr>
          <p:cNvPr id="107" name="Google Shape;107;p20"/>
          <p:cNvPicPr preferRelativeResize="0"/>
          <p:nvPr/>
        </p:nvPicPr>
        <p:blipFill>
          <a:blip r:embed="rId3">
            <a:alphaModFix/>
          </a:blip>
          <a:stretch>
            <a:fillRect/>
          </a:stretch>
        </p:blipFill>
        <p:spPr>
          <a:xfrm>
            <a:off x="4436725" y="1171600"/>
            <a:ext cx="4156888" cy="37626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Preprocessing</a:t>
            </a:r>
            <a:endParaRPr/>
          </a:p>
        </p:txBody>
      </p:sp>
      <p:sp>
        <p:nvSpPr>
          <p:cNvPr id="113" name="Google Shape;113;p21"/>
          <p:cNvSpPr txBox="1"/>
          <p:nvPr>
            <p:ph idx="1" type="body"/>
          </p:nvPr>
        </p:nvSpPr>
        <p:spPr>
          <a:xfrm>
            <a:off x="311700" y="1171600"/>
            <a:ext cx="4153500" cy="353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Pipeline Steps:</a:t>
            </a:r>
            <a:endParaRPr/>
          </a:p>
          <a:p>
            <a:pPr indent="-342900" lvl="0" marL="457200" rtl="0" algn="l">
              <a:spcBef>
                <a:spcPts val="1200"/>
              </a:spcBef>
              <a:spcAft>
                <a:spcPts val="0"/>
              </a:spcAft>
              <a:buSzPts val="1800"/>
              <a:buChar char="-"/>
            </a:pPr>
            <a:r>
              <a:rPr lang="en-GB"/>
              <a:t>Removed reviews with no plpaytime</a:t>
            </a:r>
            <a:endParaRPr/>
          </a:p>
          <a:p>
            <a:pPr indent="-342900" lvl="0" marL="457200" rtl="0" algn="l">
              <a:spcBef>
                <a:spcPts val="0"/>
              </a:spcBef>
              <a:spcAft>
                <a:spcPts val="0"/>
              </a:spcAft>
              <a:buSzPts val="1800"/>
              <a:buChar char="-"/>
            </a:pPr>
            <a:r>
              <a:rPr lang="en-GB"/>
              <a:t>Capped total </a:t>
            </a:r>
            <a:r>
              <a:rPr lang="en-GB"/>
              <a:t>playtime</a:t>
            </a:r>
            <a:r>
              <a:rPr lang="en-GB"/>
              <a:t> to 30,000 hours</a:t>
            </a:r>
            <a:endParaRPr/>
          </a:p>
          <a:p>
            <a:pPr indent="-342900" lvl="0" marL="457200" rtl="0" algn="l">
              <a:spcBef>
                <a:spcPts val="0"/>
              </a:spcBef>
              <a:spcAft>
                <a:spcPts val="0"/>
              </a:spcAft>
              <a:buSzPts val="1800"/>
              <a:buChar char="-"/>
            </a:pPr>
            <a:r>
              <a:rPr lang="en-GB"/>
              <a:t>Standardized review text</a:t>
            </a:r>
            <a:endParaRPr/>
          </a:p>
          <a:p>
            <a:pPr indent="-342900" lvl="0" marL="457200" rtl="0" algn="l">
              <a:spcBef>
                <a:spcPts val="0"/>
              </a:spcBef>
              <a:spcAft>
                <a:spcPts val="0"/>
              </a:spcAft>
              <a:buSzPts val="1800"/>
              <a:buChar char="-"/>
            </a:pPr>
            <a:r>
              <a:rPr lang="en-GB"/>
              <a:t>Engineered features for LR: playtime ratio, votes </a:t>
            </a:r>
            <a:r>
              <a:rPr lang="en-GB"/>
              <a:t>ratio, review length</a:t>
            </a:r>
            <a:endParaRPr/>
          </a:p>
        </p:txBody>
      </p:sp>
      <p:pic>
        <p:nvPicPr>
          <p:cNvPr id="114" name="Google Shape;114;p21" title="Screenshot 2026-04-01 at 4.26.00 PM.png"/>
          <p:cNvPicPr preferRelativeResize="0"/>
          <p:nvPr/>
        </p:nvPicPr>
        <p:blipFill>
          <a:blip r:embed="rId3">
            <a:alphaModFix/>
          </a:blip>
          <a:stretch>
            <a:fillRect/>
          </a:stretch>
        </p:blipFill>
        <p:spPr>
          <a:xfrm>
            <a:off x="4878850" y="729014"/>
            <a:ext cx="3750198" cy="37804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idx="1" type="body"/>
          </p:nvPr>
        </p:nvSpPr>
        <p:spPr>
          <a:xfrm>
            <a:off x="311700" y="379200"/>
            <a:ext cx="8520600" cy="4385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rPr b="1" lang="en-GB" sz="4200"/>
              <a:t>Methodology</a:t>
            </a:r>
            <a:endParaRPr b="1" sz="4200"/>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0"/>
              </a:spcAft>
              <a:buNone/>
            </a:pPr>
            <a:r>
              <a:t/>
            </a:r>
            <a:endParaRPr/>
          </a:p>
          <a:p>
            <a:pPr indent="0" lvl="0" marL="0" rtl="0" algn="ctr">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Logistic Regression &amp; TF-IDF</a:t>
            </a:r>
            <a:endParaRPr/>
          </a:p>
        </p:txBody>
      </p:sp>
      <p:sp>
        <p:nvSpPr>
          <p:cNvPr id="125" name="Google Shape;125;p23"/>
          <p:cNvSpPr txBox="1"/>
          <p:nvPr>
            <p:ph idx="1" type="body"/>
          </p:nvPr>
        </p:nvSpPr>
        <p:spPr>
          <a:xfrm>
            <a:off x="311700" y="1171600"/>
            <a:ext cx="7288500" cy="467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The logistic regression model had two variants, a baseline and TF-IDF</a:t>
            </a:r>
            <a:endParaRPr/>
          </a:p>
        </p:txBody>
      </p:sp>
      <p:sp>
        <p:nvSpPr>
          <p:cNvPr id="126" name="Google Shape;126;p23"/>
          <p:cNvSpPr txBox="1"/>
          <p:nvPr/>
        </p:nvSpPr>
        <p:spPr>
          <a:xfrm>
            <a:off x="311700" y="1638700"/>
            <a:ext cx="37545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Old Standard TT"/>
                <a:ea typeface="Old Standard TT"/>
                <a:cs typeface="Old Standard TT"/>
                <a:sym typeface="Old Standard TT"/>
              </a:rPr>
              <a:t>Baseline:</a:t>
            </a:r>
            <a:endParaRPr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GB" sz="1800">
                <a:solidFill>
                  <a:schemeClr val="dk1"/>
                </a:solidFill>
                <a:latin typeface="Old Standard TT"/>
                <a:ea typeface="Old Standard TT"/>
                <a:cs typeface="Old Standard TT"/>
                <a:sym typeface="Old Standard TT"/>
              </a:rPr>
              <a:t>16 features after tuning and feature engineering</a:t>
            </a:r>
            <a:endParaRPr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GB" sz="1800">
                <a:solidFill>
                  <a:schemeClr val="dk1"/>
                </a:solidFill>
                <a:latin typeface="Old Standard TT"/>
                <a:ea typeface="Old Standard TT"/>
                <a:cs typeface="Old Standard TT"/>
                <a:sym typeface="Old Standard TT"/>
              </a:rPr>
              <a:t>StandardScaler to normalize features</a:t>
            </a:r>
            <a:endParaRPr sz="18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t/>
            </a:r>
            <a:endParaRPr sz="18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lang="en-GB" sz="1800">
                <a:solidFill>
                  <a:schemeClr val="dk1"/>
                </a:solidFill>
                <a:latin typeface="Old Standard TT"/>
                <a:ea typeface="Old Standard TT"/>
                <a:cs typeface="Old Standard TT"/>
                <a:sym typeface="Old Standard TT"/>
              </a:rPr>
              <a:t>TF-IDF:</a:t>
            </a:r>
            <a:endParaRPr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GB" sz="1800">
                <a:solidFill>
                  <a:schemeClr val="dk1"/>
                </a:solidFill>
                <a:latin typeface="Old Standard TT"/>
                <a:ea typeface="Old Standard TT"/>
                <a:cs typeface="Old Standard TT"/>
                <a:sym typeface="Old Standard TT"/>
              </a:rPr>
              <a:t>1,000 text features appended to numeric features </a:t>
            </a:r>
            <a:endParaRPr sz="1800">
              <a:solidFill>
                <a:schemeClr val="dk1"/>
              </a:solidFill>
              <a:latin typeface="Old Standard TT"/>
              <a:ea typeface="Old Standard TT"/>
              <a:cs typeface="Old Standard TT"/>
              <a:sym typeface="Old Standard TT"/>
            </a:endParaRPr>
          </a:p>
        </p:txBody>
      </p:sp>
      <p:pic>
        <p:nvPicPr>
          <p:cNvPr id="127" name="Google Shape;127;p23"/>
          <p:cNvPicPr preferRelativeResize="0"/>
          <p:nvPr/>
        </p:nvPicPr>
        <p:blipFill>
          <a:blip r:embed="rId3">
            <a:alphaModFix/>
          </a:blip>
          <a:stretch>
            <a:fillRect/>
          </a:stretch>
        </p:blipFill>
        <p:spPr>
          <a:xfrm>
            <a:off x="3858675" y="1752075"/>
            <a:ext cx="4973614" cy="2678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4"/>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Random Forest</a:t>
            </a:r>
            <a:endParaRPr/>
          </a:p>
        </p:txBody>
      </p:sp>
      <p:sp>
        <p:nvSpPr>
          <p:cNvPr id="133" name="Google Shape;133;p24"/>
          <p:cNvSpPr txBox="1"/>
          <p:nvPr>
            <p:ph idx="1" type="body"/>
          </p:nvPr>
        </p:nvSpPr>
        <p:spPr>
          <a:xfrm>
            <a:off x="311700" y="1171600"/>
            <a:ext cx="40110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Trained on 13 features</a:t>
            </a:r>
            <a:endParaRPr/>
          </a:p>
          <a:p>
            <a:pPr indent="-342900" lvl="0" marL="457200" rtl="0" algn="l">
              <a:spcBef>
                <a:spcPts val="0"/>
              </a:spcBef>
              <a:spcAft>
                <a:spcPts val="0"/>
              </a:spcAft>
              <a:buSzPts val="1800"/>
              <a:buChar char="-"/>
            </a:pPr>
            <a:r>
              <a:rPr lang="en-GB"/>
              <a:t>No feature scaling required</a:t>
            </a:r>
            <a:endParaRPr/>
          </a:p>
          <a:p>
            <a:pPr indent="-342900" lvl="0" marL="457200" rtl="0" algn="l">
              <a:spcBef>
                <a:spcPts val="0"/>
              </a:spcBef>
              <a:spcAft>
                <a:spcPts val="0"/>
              </a:spcAft>
              <a:buSzPts val="1800"/>
              <a:buChar char="-"/>
            </a:pPr>
            <a:r>
              <a:rPr lang="en-GB"/>
              <a:t>100 estimators, no depth constraint</a:t>
            </a:r>
            <a:endParaRPr/>
          </a:p>
          <a:p>
            <a:pPr indent="-342900" lvl="0" marL="457200" rtl="0" algn="l">
              <a:spcBef>
                <a:spcPts val="0"/>
              </a:spcBef>
              <a:spcAft>
                <a:spcPts val="0"/>
              </a:spcAft>
              <a:buSzPts val="1800"/>
              <a:buChar char="-"/>
            </a:pPr>
            <a:r>
              <a:rPr lang="en-GB"/>
              <a:t>Hyperparameter tuning: RandomizedSearchCV, 3-fold CV</a:t>
            </a:r>
            <a:endParaRPr/>
          </a:p>
          <a:p>
            <a:pPr indent="-342900" lvl="0" marL="457200" rtl="0" algn="l">
              <a:spcBef>
                <a:spcPts val="0"/>
              </a:spcBef>
              <a:spcAft>
                <a:spcPts val="0"/>
              </a:spcAft>
              <a:buSzPts val="1800"/>
              <a:buChar char="-"/>
            </a:pPr>
            <a:r>
              <a:rPr lang="en-GB"/>
              <a:t>Parameters searched: n_estimators, max_depth, min_samples_split, max_features</a:t>
            </a:r>
            <a:endParaRPr/>
          </a:p>
        </p:txBody>
      </p:sp>
      <p:pic>
        <p:nvPicPr>
          <p:cNvPr id="134" name="Google Shape;134;p24"/>
          <p:cNvPicPr preferRelativeResize="0"/>
          <p:nvPr/>
        </p:nvPicPr>
        <p:blipFill>
          <a:blip r:embed="rId3">
            <a:alphaModFix/>
          </a:blip>
          <a:stretch>
            <a:fillRect/>
          </a:stretch>
        </p:blipFill>
        <p:spPr>
          <a:xfrm>
            <a:off x="4322700" y="1171600"/>
            <a:ext cx="4759675" cy="25629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5"/>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Long Short Term Memory (LSTM) </a:t>
            </a:r>
            <a:endParaRPr/>
          </a:p>
        </p:txBody>
      </p:sp>
      <p:sp>
        <p:nvSpPr>
          <p:cNvPr id="140" name="Google Shape;140;p25"/>
          <p:cNvSpPr txBox="1"/>
          <p:nvPr>
            <p:ph idx="1" type="body"/>
          </p:nvPr>
        </p:nvSpPr>
        <p:spPr>
          <a:xfrm>
            <a:off x="311700" y="1171600"/>
            <a:ext cx="3678300" cy="33972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GB"/>
              <a:t>Sequential model, understands context (“not good” vs “good”)</a:t>
            </a:r>
            <a:endParaRPr/>
          </a:p>
          <a:p>
            <a:pPr indent="-342900" lvl="0" marL="457200" rtl="0" algn="l">
              <a:spcBef>
                <a:spcPts val="0"/>
              </a:spcBef>
              <a:spcAft>
                <a:spcPts val="0"/>
              </a:spcAft>
              <a:buSzPts val="1800"/>
              <a:buChar char="-"/>
            </a:pPr>
            <a:r>
              <a:rPr lang="en-GB"/>
              <a:t>No pretrained embeddings</a:t>
            </a:r>
            <a:endParaRPr/>
          </a:p>
          <a:p>
            <a:pPr indent="-342900" lvl="0" marL="457200" rtl="0" algn="l">
              <a:spcBef>
                <a:spcPts val="0"/>
              </a:spcBef>
              <a:spcAft>
                <a:spcPts val="0"/>
              </a:spcAft>
              <a:buSzPts val="1800"/>
              <a:buChar char="-"/>
            </a:pPr>
            <a:r>
              <a:rPr lang="en-GB"/>
              <a:t>Embedding dim = 50, lstm units = 32, dense </a:t>
            </a:r>
            <a:endParaRPr/>
          </a:p>
          <a:p>
            <a:pPr indent="-342900" lvl="0" marL="457200" rtl="0" algn="l">
              <a:spcBef>
                <a:spcPts val="0"/>
              </a:spcBef>
              <a:spcAft>
                <a:spcPts val="0"/>
              </a:spcAft>
              <a:buSzPts val="1800"/>
              <a:buChar char="-"/>
            </a:pPr>
            <a:r>
              <a:rPr lang="en-GB"/>
              <a:t>Vocabulary: 2,000 words, sequence padded to 100 tokens</a:t>
            </a:r>
            <a:endParaRPr/>
          </a:p>
          <a:p>
            <a:pPr indent="-342900" lvl="0" marL="457200" rtl="0" algn="l">
              <a:spcBef>
                <a:spcPts val="0"/>
              </a:spcBef>
              <a:spcAft>
                <a:spcPts val="0"/>
              </a:spcAft>
              <a:buSzPts val="1800"/>
              <a:buChar char="-"/>
            </a:pPr>
            <a:r>
              <a:rPr lang="en-GB"/>
              <a:t>Custom random search for tuning</a:t>
            </a:r>
            <a:endParaRPr/>
          </a:p>
        </p:txBody>
      </p:sp>
      <p:pic>
        <p:nvPicPr>
          <p:cNvPr id="141" name="Google Shape;141;p25" title="Untitled drawing.png"/>
          <p:cNvPicPr preferRelativeResize="0"/>
          <p:nvPr/>
        </p:nvPicPr>
        <p:blipFill>
          <a:blip r:embed="rId3">
            <a:alphaModFix/>
          </a:blip>
          <a:stretch>
            <a:fillRect/>
          </a:stretch>
        </p:blipFill>
        <p:spPr>
          <a:xfrm>
            <a:off x="2911575" y="445025"/>
            <a:ext cx="6190250" cy="46426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6"/>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LSTM Visualizations</a:t>
            </a:r>
            <a:endParaRPr/>
          </a:p>
        </p:txBody>
      </p:sp>
      <p:sp>
        <p:nvSpPr>
          <p:cNvPr id="147" name="Google Shape;147;p26"/>
          <p:cNvSpPr txBox="1"/>
          <p:nvPr>
            <p:ph idx="1" type="body"/>
          </p:nvPr>
        </p:nvSpPr>
        <p:spPr>
          <a:xfrm>
            <a:off x="40529" y="1171600"/>
            <a:ext cx="2820000" cy="732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Base Model </a:t>
            </a:r>
            <a:endParaRPr/>
          </a:p>
        </p:txBody>
      </p:sp>
      <p:pic>
        <p:nvPicPr>
          <p:cNvPr id="148" name="Google Shape;148;p26"/>
          <p:cNvPicPr preferRelativeResize="0"/>
          <p:nvPr/>
        </p:nvPicPr>
        <p:blipFill>
          <a:blip r:embed="rId3">
            <a:alphaModFix/>
          </a:blip>
          <a:stretch>
            <a:fillRect/>
          </a:stretch>
        </p:blipFill>
        <p:spPr>
          <a:xfrm>
            <a:off x="4676975" y="1758250"/>
            <a:ext cx="4321250" cy="2160625"/>
          </a:xfrm>
          <a:prstGeom prst="rect">
            <a:avLst/>
          </a:prstGeom>
          <a:noFill/>
          <a:ln>
            <a:noFill/>
          </a:ln>
        </p:spPr>
      </p:pic>
      <p:pic>
        <p:nvPicPr>
          <p:cNvPr id="149" name="Google Shape;149;p26"/>
          <p:cNvPicPr preferRelativeResize="0"/>
          <p:nvPr/>
        </p:nvPicPr>
        <p:blipFill>
          <a:blip r:embed="rId4">
            <a:alphaModFix/>
          </a:blip>
          <a:stretch>
            <a:fillRect/>
          </a:stretch>
        </p:blipFill>
        <p:spPr>
          <a:xfrm>
            <a:off x="122000" y="1758250"/>
            <a:ext cx="4321250" cy="2160625"/>
          </a:xfrm>
          <a:prstGeom prst="rect">
            <a:avLst/>
          </a:prstGeom>
          <a:noFill/>
          <a:ln>
            <a:noFill/>
          </a:ln>
        </p:spPr>
      </p:pic>
      <p:sp>
        <p:nvSpPr>
          <p:cNvPr id="150" name="Google Shape;150;p26"/>
          <p:cNvSpPr txBox="1"/>
          <p:nvPr>
            <p:ph idx="1" type="body"/>
          </p:nvPr>
        </p:nvSpPr>
        <p:spPr>
          <a:xfrm>
            <a:off x="4566646" y="1171600"/>
            <a:ext cx="2820000" cy="732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Tuned Model</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7"/>
          <p:cNvSpPr txBox="1"/>
          <p:nvPr>
            <p:ph type="title"/>
          </p:nvPr>
        </p:nvSpPr>
        <p:spPr>
          <a:xfrm>
            <a:off x="512700" y="2095800"/>
            <a:ext cx="8118600" cy="9519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GB"/>
              <a:t>Results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Evaluation Metrics</a:t>
            </a:r>
            <a:endParaRPr/>
          </a:p>
        </p:txBody>
      </p:sp>
      <p:sp>
        <p:nvSpPr>
          <p:cNvPr id="161" name="Google Shape;161;p28"/>
          <p:cNvSpPr txBox="1"/>
          <p:nvPr>
            <p:ph idx="1" type="body"/>
          </p:nvPr>
        </p:nvSpPr>
        <p:spPr>
          <a:xfrm>
            <a:off x="311700" y="1171600"/>
            <a:ext cx="8520600" cy="33972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GB"/>
              <a:t>Due to the nature of the problem and data, appropriate classification metrics were employed to test model performance.</a:t>
            </a:r>
            <a:endParaRPr/>
          </a:p>
          <a:p>
            <a:pPr indent="-342900" lvl="0" marL="457200" rtl="0" algn="l">
              <a:spcBef>
                <a:spcPts val="1200"/>
              </a:spcBef>
              <a:spcAft>
                <a:spcPts val="0"/>
              </a:spcAft>
              <a:buSzPts val="1800"/>
              <a:buChar char="●"/>
            </a:pPr>
            <a:r>
              <a:rPr lang="en-GB"/>
              <a:t>Accuracy</a:t>
            </a:r>
            <a:endParaRPr/>
          </a:p>
          <a:p>
            <a:pPr indent="-342900" lvl="0" marL="457200" rtl="0" algn="l">
              <a:spcBef>
                <a:spcPts val="0"/>
              </a:spcBef>
              <a:spcAft>
                <a:spcPts val="0"/>
              </a:spcAft>
              <a:buSzPts val="1800"/>
              <a:buChar char="●"/>
            </a:pPr>
            <a:r>
              <a:rPr lang="en-GB"/>
              <a:t>Precision/Specificity</a:t>
            </a:r>
            <a:endParaRPr/>
          </a:p>
          <a:p>
            <a:pPr indent="-342900" lvl="0" marL="457200" rtl="0" algn="l">
              <a:spcBef>
                <a:spcPts val="0"/>
              </a:spcBef>
              <a:spcAft>
                <a:spcPts val="0"/>
              </a:spcAft>
              <a:buSzPts val="1800"/>
              <a:buChar char="●"/>
            </a:pPr>
            <a:r>
              <a:rPr lang="en-GB"/>
              <a:t>Recall/Sensitivity</a:t>
            </a:r>
            <a:endParaRPr/>
          </a:p>
          <a:p>
            <a:pPr indent="-342900" lvl="0" marL="457200" rtl="0" algn="l">
              <a:spcBef>
                <a:spcPts val="0"/>
              </a:spcBef>
              <a:spcAft>
                <a:spcPts val="0"/>
              </a:spcAft>
              <a:buSzPts val="1800"/>
              <a:buChar char="●"/>
            </a:pPr>
            <a:r>
              <a:rPr lang="en-GB"/>
              <a:t>F1-Score</a:t>
            </a:r>
            <a:endParaRPr/>
          </a:p>
          <a:p>
            <a:pPr indent="0" lvl="0" marL="0" rtl="0" algn="ctr">
              <a:spcBef>
                <a:spcPts val="1200"/>
              </a:spcBef>
              <a:spcAft>
                <a:spcPts val="0"/>
              </a:spcAft>
              <a:buNone/>
            </a:pPr>
            <a:r>
              <a:t/>
            </a:r>
            <a:endParaRPr/>
          </a:p>
          <a:p>
            <a:pPr indent="0" lvl="0" marL="0" rtl="0" algn="ctr">
              <a:spcBef>
                <a:spcPts val="1200"/>
              </a:spcBef>
              <a:spcAft>
                <a:spcPts val="1200"/>
              </a:spcAft>
              <a:buNone/>
            </a:pPr>
            <a:r>
              <a:rPr lang="en-GB"/>
              <a:t>Regression based statistics, such as MSE and RMSE, were inappropriate for model evaluation.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9"/>
          <p:cNvSpPr txBox="1"/>
          <p:nvPr>
            <p:ph type="title"/>
          </p:nvPr>
        </p:nvSpPr>
        <p:spPr>
          <a:xfrm>
            <a:off x="311700" y="209700"/>
            <a:ext cx="8520600" cy="613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Comparative Model Analysis</a:t>
            </a:r>
            <a:endParaRPr/>
          </a:p>
        </p:txBody>
      </p:sp>
      <p:pic>
        <p:nvPicPr>
          <p:cNvPr id="167" name="Google Shape;167;p29"/>
          <p:cNvPicPr preferRelativeResize="0"/>
          <p:nvPr/>
        </p:nvPicPr>
        <p:blipFill>
          <a:blip r:embed="rId3">
            <a:alphaModFix/>
          </a:blip>
          <a:stretch>
            <a:fillRect/>
          </a:stretch>
        </p:blipFill>
        <p:spPr>
          <a:xfrm>
            <a:off x="514350" y="822900"/>
            <a:ext cx="8115299" cy="40576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30"/>
          <p:cNvPicPr preferRelativeResize="0"/>
          <p:nvPr/>
        </p:nvPicPr>
        <p:blipFill>
          <a:blip r:embed="rId3">
            <a:alphaModFix/>
          </a:blip>
          <a:stretch>
            <a:fillRect/>
          </a:stretch>
        </p:blipFill>
        <p:spPr>
          <a:xfrm>
            <a:off x="254950" y="905438"/>
            <a:ext cx="4443499" cy="3332630"/>
          </a:xfrm>
          <a:prstGeom prst="rect">
            <a:avLst/>
          </a:prstGeom>
          <a:noFill/>
          <a:ln>
            <a:noFill/>
          </a:ln>
        </p:spPr>
      </p:pic>
      <p:sp>
        <p:nvSpPr>
          <p:cNvPr id="173" name="Google Shape;173;p30"/>
          <p:cNvSpPr txBox="1"/>
          <p:nvPr/>
        </p:nvSpPr>
        <p:spPr>
          <a:xfrm>
            <a:off x="349100" y="324725"/>
            <a:ext cx="4255200" cy="50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Old Standard TT"/>
                <a:ea typeface="Old Standard TT"/>
                <a:cs typeface="Old Standard TT"/>
                <a:sym typeface="Old Standard TT"/>
              </a:rPr>
              <a:t>Tuned LSTM</a:t>
            </a:r>
            <a:endParaRPr sz="1800">
              <a:solidFill>
                <a:schemeClr val="dk1"/>
              </a:solidFill>
              <a:latin typeface="Old Standard TT"/>
              <a:ea typeface="Old Standard TT"/>
              <a:cs typeface="Old Standard TT"/>
              <a:sym typeface="Old Standard TT"/>
            </a:endParaRPr>
          </a:p>
        </p:txBody>
      </p:sp>
      <p:pic>
        <p:nvPicPr>
          <p:cNvPr id="174" name="Google Shape;174;p30"/>
          <p:cNvPicPr preferRelativeResize="0"/>
          <p:nvPr/>
        </p:nvPicPr>
        <p:blipFill>
          <a:blip r:embed="rId4">
            <a:alphaModFix/>
          </a:blip>
          <a:stretch>
            <a:fillRect/>
          </a:stretch>
        </p:blipFill>
        <p:spPr>
          <a:xfrm>
            <a:off x="4865800" y="905450"/>
            <a:ext cx="3999150" cy="3332625"/>
          </a:xfrm>
          <a:prstGeom prst="rect">
            <a:avLst/>
          </a:prstGeom>
          <a:noFill/>
          <a:ln>
            <a:noFill/>
          </a:ln>
        </p:spPr>
      </p:pic>
      <p:sp>
        <p:nvSpPr>
          <p:cNvPr id="175" name="Google Shape;175;p30"/>
          <p:cNvSpPr txBox="1"/>
          <p:nvPr/>
        </p:nvSpPr>
        <p:spPr>
          <a:xfrm>
            <a:off x="4949525" y="288875"/>
            <a:ext cx="3860700" cy="50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Old Standard TT"/>
                <a:ea typeface="Old Standard TT"/>
                <a:cs typeface="Old Standard TT"/>
                <a:sym typeface="Old Standard TT"/>
              </a:rPr>
              <a:t>TF-IDF LR</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1"/>
          <p:cNvSpPr txBox="1"/>
          <p:nvPr>
            <p:ph type="title"/>
          </p:nvPr>
        </p:nvSpPr>
        <p:spPr>
          <a:xfrm>
            <a:off x="2946300" y="50550"/>
            <a:ext cx="32514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Feature Significance </a:t>
            </a:r>
            <a:endParaRPr/>
          </a:p>
        </p:txBody>
      </p:sp>
      <p:pic>
        <p:nvPicPr>
          <p:cNvPr id="181" name="Google Shape;181;p31"/>
          <p:cNvPicPr preferRelativeResize="0"/>
          <p:nvPr/>
        </p:nvPicPr>
        <p:blipFill>
          <a:blip r:embed="rId3">
            <a:alphaModFix/>
          </a:blip>
          <a:stretch>
            <a:fillRect/>
          </a:stretch>
        </p:blipFill>
        <p:spPr>
          <a:xfrm>
            <a:off x="1477150" y="753250"/>
            <a:ext cx="6189699" cy="3332900"/>
          </a:xfrm>
          <a:prstGeom prst="rect">
            <a:avLst/>
          </a:prstGeom>
          <a:noFill/>
          <a:ln>
            <a:noFill/>
          </a:ln>
        </p:spPr>
      </p:pic>
      <p:sp>
        <p:nvSpPr>
          <p:cNvPr id="182" name="Google Shape;182;p31"/>
          <p:cNvSpPr txBox="1"/>
          <p:nvPr/>
        </p:nvSpPr>
        <p:spPr>
          <a:xfrm>
            <a:off x="335675" y="1388525"/>
            <a:ext cx="3418500" cy="320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Old Standard TT"/>
              <a:ea typeface="Old Standard TT"/>
              <a:cs typeface="Old Standard TT"/>
              <a:sym typeface="Old Standard TT"/>
            </a:endParaRPr>
          </a:p>
        </p:txBody>
      </p:sp>
      <p:sp>
        <p:nvSpPr>
          <p:cNvPr id="183" name="Google Shape;183;p31"/>
          <p:cNvSpPr txBox="1"/>
          <p:nvPr/>
        </p:nvSpPr>
        <p:spPr>
          <a:xfrm>
            <a:off x="352650" y="4086150"/>
            <a:ext cx="8438700" cy="45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Old Standard TT"/>
                <a:ea typeface="Old Standard TT"/>
                <a:cs typeface="Old Standard TT"/>
                <a:sym typeface="Old Standard TT"/>
              </a:rPr>
              <a:t>While the naive models weighted playtime metadata as some of the strongest predictors, them underperforming compared to models utilizing text based features shows a reviewer’s voice is more indicative of their sentiment.</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2"/>
          <p:cNvSpPr txBox="1"/>
          <p:nvPr>
            <p:ph type="title"/>
          </p:nvPr>
        </p:nvSpPr>
        <p:spPr>
          <a:xfrm>
            <a:off x="512700" y="2000250"/>
            <a:ext cx="8118600" cy="1143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Conclusion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3"/>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Findings</a:t>
            </a:r>
            <a:endParaRPr/>
          </a:p>
        </p:txBody>
      </p:sp>
      <p:sp>
        <p:nvSpPr>
          <p:cNvPr id="194" name="Google Shape;194;p33"/>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Linguistic characteristics of reviews significantly outperformed behavioural metadata, proving to be more reliable for signalling sentiment. </a:t>
            </a:r>
            <a:endParaRPr/>
          </a:p>
          <a:p>
            <a:pPr indent="0" lvl="0" marL="0" rtl="0" algn="l">
              <a:spcBef>
                <a:spcPts val="1200"/>
              </a:spcBef>
              <a:spcAft>
                <a:spcPts val="0"/>
              </a:spcAft>
              <a:buNone/>
            </a:pPr>
            <a:r>
              <a:rPr lang="en-GB"/>
              <a:t>Nuance detection proved to be the deciding factor between the two most successful models, with TF-IDF Logistic Regression losing on accuracy due its inability to retrieve context.</a:t>
            </a:r>
            <a:endParaRPr/>
          </a:p>
          <a:p>
            <a:pPr indent="0" lvl="0" marL="0" rtl="0" algn="l">
              <a:spcBef>
                <a:spcPts val="1200"/>
              </a:spcBef>
              <a:spcAft>
                <a:spcPts val="1200"/>
              </a:spcAft>
              <a:buNone/>
            </a:pPr>
            <a:r>
              <a:rPr lang="en-GB"/>
              <a:t>The accuracy requirement was met on both linguistic characteristic models, while failing to be met on the metadata models.</a:t>
            </a:r>
            <a:endParaRPr/>
          </a:p>
        </p:txBody>
      </p:sp>
      <p:sp>
        <p:nvSpPr>
          <p:cNvPr id="195" name="Google Shape;195;p33"/>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The data pipeline established was capable of distilling the initial “Big Data” set down into an actionable subset that could run on local hardware.</a:t>
            </a:r>
            <a:endParaRPr/>
          </a:p>
          <a:p>
            <a:pPr indent="0" lvl="0" marL="0" rtl="0" algn="l">
              <a:spcBef>
                <a:spcPts val="1200"/>
              </a:spcBef>
              <a:spcAft>
                <a:spcPts val="0"/>
              </a:spcAft>
              <a:buNone/>
            </a:pPr>
            <a:r>
              <a:rPr lang="en-GB"/>
              <a:t>Both models that safely beat the accuracy metric contained extreme computing needs. TF-IDF required managing memory requirements due to its sheer number of features and calculations, while LSTM models stretched the compute requirements. </a:t>
            </a:r>
            <a:endParaRPr/>
          </a:p>
          <a:p>
            <a:pPr indent="0" lvl="0" marL="0" rtl="0" algn="l">
              <a:spcBef>
                <a:spcPts val="120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4"/>
          <p:cNvSpPr txBox="1"/>
          <p:nvPr>
            <p:ph type="title"/>
          </p:nvPr>
        </p:nvSpPr>
        <p:spPr>
          <a:xfrm>
            <a:off x="311700" y="265725"/>
            <a:ext cx="8520600" cy="613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Mistakes and Challenges</a:t>
            </a:r>
            <a:endParaRPr/>
          </a:p>
        </p:txBody>
      </p:sp>
      <p:sp>
        <p:nvSpPr>
          <p:cNvPr id="201" name="Google Shape;201;p34"/>
          <p:cNvSpPr txBox="1"/>
          <p:nvPr>
            <p:ph idx="1" type="body"/>
          </p:nvPr>
        </p:nvSpPr>
        <p:spPr>
          <a:xfrm>
            <a:off x="311700" y="932625"/>
            <a:ext cx="8319300" cy="3993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GB" sz="1600"/>
              <a:t>Local Environment: </a:t>
            </a:r>
            <a:endParaRPr sz="1600"/>
          </a:p>
          <a:p>
            <a:pPr indent="0" lvl="0" marL="914400" rtl="0" algn="l">
              <a:spcBef>
                <a:spcPts val="1200"/>
              </a:spcBef>
              <a:spcAft>
                <a:spcPts val="0"/>
              </a:spcAft>
              <a:buNone/>
            </a:pPr>
            <a:r>
              <a:rPr lang="en-GB" sz="1600"/>
              <a:t>The need to perform on local hardware made hyperparameter tuning and feature construction far more limited. Running on stronger machines with more processing power would produce better models than the ones created. GPU access would also improve training times. </a:t>
            </a:r>
            <a:endParaRPr sz="1600"/>
          </a:p>
          <a:p>
            <a:pPr indent="0" lvl="0" marL="0" rtl="0" algn="l">
              <a:spcBef>
                <a:spcPts val="1200"/>
              </a:spcBef>
              <a:spcAft>
                <a:spcPts val="0"/>
              </a:spcAft>
              <a:buNone/>
            </a:pPr>
            <a:r>
              <a:rPr b="1" lang="en-GB" sz="1600"/>
              <a:t>Inherent linguistic noise:</a:t>
            </a:r>
            <a:endParaRPr b="1" sz="1600"/>
          </a:p>
          <a:p>
            <a:pPr indent="0" lvl="0" marL="0" rtl="0" algn="l">
              <a:spcBef>
                <a:spcPts val="1200"/>
              </a:spcBef>
              <a:spcAft>
                <a:spcPts val="0"/>
              </a:spcAft>
              <a:buNone/>
            </a:pPr>
            <a:r>
              <a:rPr b="1" lang="en-GB" sz="1600"/>
              <a:t>	</a:t>
            </a:r>
            <a:r>
              <a:rPr lang="en-GB" sz="1600"/>
              <a:t>	Steam reviews are mixed bag and not standardized. As such, non-standard </a:t>
            </a:r>
            <a:endParaRPr sz="1600"/>
          </a:p>
          <a:p>
            <a:pPr indent="457200" lvl="0" marL="457200" rtl="0" algn="l">
              <a:spcBef>
                <a:spcPts val="1200"/>
              </a:spcBef>
              <a:spcAft>
                <a:spcPts val="0"/>
              </a:spcAft>
              <a:buNone/>
            </a:pPr>
            <a:r>
              <a:rPr lang="en-GB" sz="1600"/>
              <a:t>reviews likely increased the error rate.</a:t>
            </a:r>
            <a:endParaRPr sz="1600"/>
          </a:p>
          <a:p>
            <a:pPr indent="0" lvl="0" marL="0" rtl="0" algn="l">
              <a:spcBef>
                <a:spcPts val="1200"/>
              </a:spcBef>
              <a:spcAft>
                <a:spcPts val="0"/>
              </a:spcAft>
              <a:buNone/>
            </a:pPr>
            <a:r>
              <a:rPr b="1" lang="en-GB" sz="1600"/>
              <a:t>LSTM Early Dropout</a:t>
            </a:r>
            <a:r>
              <a:rPr lang="en-GB" sz="1600"/>
              <a:t>: </a:t>
            </a:r>
            <a:endParaRPr sz="1600"/>
          </a:p>
          <a:p>
            <a:pPr indent="0" lvl="0" marL="0" rtl="0" algn="l">
              <a:spcBef>
                <a:spcPts val="1200"/>
              </a:spcBef>
              <a:spcAft>
                <a:spcPts val="0"/>
              </a:spcAft>
              <a:buNone/>
            </a:pPr>
            <a:r>
              <a:rPr lang="en-GB" sz="1600"/>
              <a:t>		LSTM models are very prone to overfitting. While our hyperparameters avoided it</a:t>
            </a:r>
            <a:endParaRPr sz="1600"/>
          </a:p>
          <a:p>
            <a:pPr indent="457200" lvl="0" marL="457200" rtl="0" algn="l">
              <a:spcBef>
                <a:spcPts val="1200"/>
              </a:spcBef>
              <a:spcAft>
                <a:spcPts val="0"/>
              </a:spcAft>
              <a:buNone/>
            </a:pPr>
            <a:r>
              <a:rPr lang="en-GB" sz="1600"/>
              <a:t>by choosing the model with a lower epoch count, early dropout would have guaranteed it </a:t>
            </a:r>
            <a:endParaRPr sz="1600"/>
          </a:p>
          <a:p>
            <a:pPr indent="457200" lvl="0" marL="457200" rtl="0" algn="l">
              <a:spcBef>
                <a:spcPts val="1200"/>
              </a:spcBef>
              <a:spcAft>
                <a:spcPts val="1200"/>
              </a:spcAft>
              <a:buNone/>
            </a:pPr>
            <a:r>
              <a:rPr lang="en-GB" sz="1600"/>
              <a:t>to generalize better to new data.</a:t>
            </a:r>
            <a:endParaRPr sz="16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5"/>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Future Considerations</a:t>
            </a:r>
            <a:endParaRPr/>
          </a:p>
        </p:txBody>
      </p:sp>
      <p:sp>
        <p:nvSpPr>
          <p:cNvPr id="207" name="Google Shape;207;p35"/>
          <p:cNvSpPr txBox="1"/>
          <p:nvPr>
            <p:ph idx="1" type="body"/>
          </p:nvPr>
        </p:nvSpPr>
        <p:spPr>
          <a:xfrm>
            <a:off x="311700" y="1680450"/>
            <a:ext cx="8520600" cy="178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600"/>
              <a:t>With a model capable of predicting review sentiment, extensions for this project could include:</a:t>
            </a:r>
            <a:endParaRPr sz="1600"/>
          </a:p>
          <a:p>
            <a:pPr indent="-330200" lvl="0" marL="457200" rtl="0" algn="l">
              <a:spcBef>
                <a:spcPts val="1200"/>
              </a:spcBef>
              <a:spcAft>
                <a:spcPts val="0"/>
              </a:spcAft>
              <a:buSzPts val="1600"/>
              <a:buChar char="●"/>
            </a:pPr>
            <a:r>
              <a:rPr lang="en-GB" sz="1600"/>
              <a:t>Temporal clustering to gauge sentiment of major patches and releases</a:t>
            </a:r>
            <a:endParaRPr sz="1600"/>
          </a:p>
          <a:p>
            <a:pPr indent="-330200" lvl="0" marL="457200" rtl="0" algn="l">
              <a:spcBef>
                <a:spcPts val="0"/>
              </a:spcBef>
              <a:spcAft>
                <a:spcPts val="0"/>
              </a:spcAft>
              <a:buSzPts val="1600"/>
              <a:buChar char="●"/>
            </a:pPr>
            <a:r>
              <a:rPr lang="en-GB" sz="1600"/>
              <a:t>Cross-genre generalizing</a:t>
            </a:r>
            <a:endParaRPr sz="1600"/>
          </a:p>
          <a:p>
            <a:pPr indent="-330200" lvl="0" marL="457200" rtl="0" algn="l">
              <a:spcBef>
                <a:spcPts val="0"/>
              </a:spcBef>
              <a:spcAft>
                <a:spcPts val="0"/>
              </a:spcAft>
              <a:buSzPts val="1600"/>
              <a:buChar char="●"/>
            </a:pPr>
            <a:r>
              <a:rPr lang="en-GB" sz="1600"/>
              <a:t>Aspect-based analysis to extend sentiment to sentiment type and topic</a:t>
            </a:r>
            <a:endParaRPr sz="1600"/>
          </a:p>
          <a:p>
            <a:pPr indent="-330200" lvl="0" marL="457200" rtl="0" algn="l">
              <a:spcBef>
                <a:spcPts val="0"/>
              </a:spcBef>
              <a:spcAft>
                <a:spcPts val="0"/>
              </a:spcAft>
              <a:buSzPts val="1600"/>
              <a:buChar char="●"/>
            </a:pPr>
            <a:r>
              <a:rPr lang="en-GB" sz="1600"/>
              <a:t>Extension to a full “Big Data” pipeline and dashboard</a:t>
            </a:r>
            <a:endParaRPr sz="16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6"/>
          <p:cNvSpPr txBox="1"/>
          <p:nvPr>
            <p:ph type="title"/>
          </p:nvPr>
        </p:nvSpPr>
        <p:spPr>
          <a:xfrm>
            <a:off x="512700" y="1952400"/>
            <a:ext cx="8118600" cy="1238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